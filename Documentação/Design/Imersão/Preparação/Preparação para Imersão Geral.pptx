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0" r:id="rId2"/>
  </p:sldIdLst>
  <p:sldSz cx="9753600" cy="7315200"/>
  <p:notesSz cx="6858000" cy="9144000"/>
  <p:embeddedFontLst>
    <p:embeddedFont>
      <p:font typeface="Montserrat Bold" panose="020B0604020202020204" charset="0"/>
      <p:regular r:id="rId3"/>
    </p:embeddedFont>
    <p:embeddedFont>
      <p:font typeface="Montserrat Light" panose="00000400000000000000" pitchFamily="2" charset="0"/>
      <p:regular r:id="rId4"/>
      <p:italic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1536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3D8FF-55AA-49A8-9D0A-E8166F843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78ABD88-AAF8-B2A0-540D-B907515E573F}"/>
              </a:ext>
            </a:extLst>
          </p:cNvPr>
          <p:cNvSpPr/>
          <p:nvPr/>
        </p:nvSpPr>
        <p:spPr>
          <a:xfrm>
            <a:off x="0" y="406400"/>
            <a:ext cx="9753600" cy="6502400"/>
          </a:xfrm>
          <a:custGeom>
            <a:avLst/>
            <a:gdLst/>
            <a:ahLst/>
            <a:cxnLst/>
            <a:rect l="l" t="t" r="r" b="b"/>
            <a:pathLst>
              <a:path w="14630400" h="9753600">
                <a:moveTo>
                  <a:pt x="0" y="0"/>
                </a:moveTo>
                <a:lnTo>
                  <a:pt x="14630400" y="0"/>
                </a:lnTo>
                <a:lnTo>
                  <a:pt x="146304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sz="120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CB03AE9-8226-11BE-CAFD-B6CF3495885A}"/>
              </a:ext>
            </a:extLst>
          </p:cNvPr>
          <p:cNvSpPr txBox="1"/>
          <p:nvPr/>
        </p:nvSpPr>
        <p:spPr>
          <a:xfrm>
            <a:off x="195072" y="450076"/>
            <a:ext cx="5735117" cy="327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9"/>
              </a:lnSpc>
            </a:pPr>
            <a:r>
              <a:rPr lang="en-US" sz="2000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PREPARAÇÃO PARA IMERSÃO PROFUNDA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BEEC7E8-1A8E-3786-C162-90C402CC93B9}"/>
              </a:ext>
            </a:extLst>
          </p:cNvPr>
          <p:cNvSpPr/>
          <p:nvPr/>
        </p:nvSpPr>
        <p:spPr>
          <a:xfrm>
            <a:off x="0" y="901700"/>
            <a:ext cx="3295650" cy="2755900"/>
          </a:xfrm>
          <a:custGeom>
            <a:avLst/>
            <a:gdLst/>
            <a:ahLst/>
            <a:cxnLst/>
            <a:rect l="l" t="t" r="r" b="b"/>
            <a:pathLst>
              <a:path w="4943475" h="4133850">
                <a:moveTo>
                  <a:pt x="0" y="0"/>
                </a:moveTo>
                <a:lnTo>
                  <a:pt x="4943475" y="0"/>
                </a:lnTo>
                <a:lnTo>
                  <a:pt x="4943475" y="4133850"/>
                </a:lnTo>
                <a:lnTo>
                  <a:pt x="0" y="41338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sz="120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F48626C-BC26-E639-F399-D3CAC54A4777}"/>
              </a:ext>
            </a:extLst>
          </p:cNvPr>
          <p:cNvSpPr txBox="1"/>
          <p:nvPr/>
        </p:nvSpPr>
        <p:spPr>
          <a:xfrm>
            <a:off x="195073" y="1395454"/>
            <a:ext cx="2701747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1000" dirty="0">
                <a:latin typeface="Montserrat Light" panose="00000400000000000000" pitchFamily="2" charset="0"/>
              </a:rPr>
              <a:t>Como a população acompanha riscos de enchentes e inundações;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1000" dirty="0">
                <a:latin typeface="Montserrat Light" panose="00000400000000000000" pitchFamily="2" charset="0"/>
              </a:rPr>
              <a:t>Quais informações considera mais importantes;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1000" dirty="0">
                <a:latin typeface="Montserrat Light" panose="00000400000000000000" pitchFamily="2" charset="0"/>
              </a:rPr>
              <a:t>Dificuldades para encontrar e interpretar informações;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1000" dirty="0">
                <a:latin typeface="Montserrat Light" panose="00000400000000000000" pitchFamily="2" charset="0"/>
              </a:rPr>
              <a:t>Como chuva, rios e ocorrências anteriores influenciam a percepção de risco;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1000" dirty="0">
                <a:latin typeface="Montserrat Light" panose="00000400000000000000" pitchFamily="2" charset="0"/>
              </a:rPr>
              <a:t>Qual antecedência e quais fatores aumentam a confiança nas informações.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FF22450-93E5-B4C5-472E-BA18674BB7B9}"/>
              </a:ext>
            </a:extLst>
          </p:cNvPr>
          <p:cNvSpPr/>
          <p:nvPr/>
        </p:nvSpPr>
        <p:spPr>
          <a:xfrm>
            <a:off x="3289300" y="901700"/>
            <a:ext cx="3175000" cy="2755900"/>
          </a:xfrm>
          <a:custGeom>
            <a:avLst/>
            <a:gdLst/>
            <a:ahLst/>
            <a:cxnLst/>
            <a:rect l="l" t="t" r="r" b="b"/>
            <a:pathLst>
              <a:path w="4762500" h="4133850">
                <a:moveTo>
                  <a:pt x="0" y="0"/>
                </a:moveTo>
                <a:lnTo>
                  <a:pt x="4762500" y="0"/>
                </a:lnTo>
                <a:lnTo>
                  <a:pt x="4762500" y="4133850"/>
                </a:lnTo>
                <a:lnTo>
                  <a:pt x="0" y="41338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 sz="120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C1B96DC-0755-D0A9-1786-3FD17272E848}"/>
              </a:ext>
            </a:extLst>
          </p:cNvPr>
          <p:cNvSpPr txBox="1"/>
          <p:nvPr/>
        </p:nvSpPr>
        <p:spPr>
          <a:xfrm>
            <a:off x="3433267" y="1469726"/>
            <a:ext cx="2877312" cy="1064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9032" lvl="1" indent="-109516">
              <a:lnSpc>
                <a:spcPts val="1420"/>
              </a:lnSpc>
              <a:buFont typeface="Arial"/>
              <a:buChar char="•"/>
            </a:pPr>
            <a:r>
              <a:rPr lang="pt-BR" sz="1000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Moradores de regiões suscetíveis ou que já sofreram com enchentes; </a:t>
            </a:r>
          </a:p>
          <a:p>
            <a:pPr marL="219032" lvl="1" indent="-109516">
              <a:lnSpc>
                <a:spcPts val="1420"/>
              </a:lnSpc>
              <a:buFont typeface="Arial"/>
              <a:buChar char="•"/>
            </a:pPr>
            <a:r>
              <a:rPr lang="pt-BR" sz="1000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Pessoas que já vivenciaram situações de enchente; </a:t>
            </a:r>
          </a:p>
          <a:p>
            <a:pPr marL="219032" lvl="1" indent="-109516">
              <a:lnSpc>
                <a:spcPts val="1420"/>
              </a:lnSpc>
              <a:buFont typeface="Arial"/>
              <a:buChar char="•"/>
            </a:pPr>
            <a:r>
              <a:rPr lang="pt-BR" sz="1000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Profissionais da Defesa Civil e Corpo de Bombeiros.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8C12098-DD50-C7B2-3C76-B2215E5A6D9A}"/>
              </a:ext>
            </a:extLst>
          </p:cNvPr>
          <p:cNvSpPr/>
          <p:nvPr/>
        </p:nvSpPr>
        <p:spPr>
          <a:xfrm>
            <a:off x="6457950" y="901700"/>
            <a:ext cx="3295650" cy="2755900"/>
          </a:xfrm>
          <a:custGeom>
            <a:avLst/>
            <a:gdLst/>
            <a:ahLst/>
            <a:cxnLst/>
            <a:rect l="l" t="t" r="r" b="b"/>
            <a:pathLst>
              <a:path w="4943475" h="4133850">
                <a:moveTo>
                  <a:pt x="0" y="0"/>
                </a:moveTo>
                <a:lnTo>
                  <a:pt x="4943475" y="0"/>
                </a:lnTo>
                <a:lnTo>
                  <a:pt x="4943475" y="4133850"/>
                </a:lnTo>
                <a:lnTo>
                  <a:pt x="0" y="41338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BR" sz="120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C667F47-C199-3320-7B59-F8C31701036C}"/>
              </a:ext>
            </a:extLst>
          </p:cNvPr>
          <p:cNvSpPr txBox="1"/>
          <p:nvPr/>
        </p:nvSpPr>
        <p:spPr>
          <a:xfrm>
            <a:off x="6651955" y="1426307"/>
            <a:ext cx="2877312" cy="655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03724" lvl="1" indent="-101862">
              <a:lnSpc>
                <a:spcPts val="1321"/>
              </a:lnSpc>
              <a:buFont typeface="Arial"/>
              <a:buChar char="•"/>
            </a:pPr>
            <a:r>
              <a:rPr lang="pt-BR" sz="1000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Regiões do Espírito Santo com histórico ou suscetibilidade a enchentes; </a:t>
            </a:r>
          </a:p>
          <a:p>
            <a:pPr marL="203724" lvl="1" indent="-101862">
              <a:lnSpc>
                <a:spcPts val="1321"/>
              </a:lnSpc>
              <a:buFont typeface="Arial"/>
              <a:buChar char="•"/>
            </a:pPr>
            <a:r>
              <a:rPr lang="pt-BR" sz="1000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Instituições relacionadas à prevenção e resposta, quando houver disponibilidade.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69E3FA9-CB67-ECFA-7F7A-29FC63F185C8}"/>
              </a:ext>
            </a:extLst>
          </p:cNvPr>
          <p:cNvSpPr/>
          <p:nvPr/>
        </p:nvSpPr>
        <p:spPr>
          <a:xfrm>
            <a:off x="0" y="3657600"/>
            <a:ext cx="3295650" cy="3130550"/>
          </a:xfrm>
          <a:custGeom>
            <a:avLst/>
            <a:gdLst/>
            <a:ahLst/>
            <a:cxnLst/>
            <a:rect l="l" t="t" r="r" b="b"/>
            <a:pathLst>
              <a:path w="4943475" h="4695825">
                <a:moveTo>
                  <a:pt x="0" y="0"/>
                </a:moveTo>
                <a:lnTo>
                  <a:pt x="4943475" y="0"/>
                </a:lnTo>
                <a:lnTo>
                  <a:pt x="4943475" y="4695825"/>
                </a:lnTo>
                <a:lnTo>
                  <a:pt x="0" y="46958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 sz="1200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26DA106-A63D-3ACE-0C6D-7CFFA37D3158}"/>
              </a:ext>
            </a:extLst>
          </p:cNvPr>
          <p:cNvSpPr txBox="1"/>
          <p:nvPr/>
        </p:nvSpPr>
        <p:spPr>
          <a:xfrm>
            <a:off x="146304" y="4226409"/>
            <a:ext cx="2877312" cy="946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24134" lvl="1" indent="-112067">
              <a:lnSpc>
                <a:spcPts val="1453"/>
              </a:lnSpc>
              <a:buFont typeface="Arial"/>
              <a:buChar char="•"/>
            </a:pPr>
            <a:r>
              <a:rPr lang="pt-BR" sz="1000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Durante a etapa de imersão profunda; </a:t>
            </a:r>
          </a:p>
          <a:p>
            <a:pPr marL="224134" lvl="1" indent="-112067">
              <a:lnSpc>
                <a:spcPts val="1453"/>
              </a:lnSpc>
              <a:buFont typeface="Arial"/>
              <a:buChar char="•"/>
            </a:pPr>
            <a:r>
              <a:rPr lang="pt-BR" sz="1000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Após a preparação do roteiro e antes do refinamento final da solução; </a:t>
            </a:r>
          </a:p>
          <a:p>
            <a:pPr marL="224134" lvl="1" indent="-112067">
              <a:lnSpc>
                <a:spcPts val="1453"/>
              </a:lnSpc>
              <a:buFont typeface="Arial"/>
              <a:buChar char="•"/>
            </a:pPr>
            <a:r>
              <a:rPr lang="pt-BR" sz="1000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Posteriormente, o protótipo poderá ser validado com usuários.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7B67156-A3AB-02BE-897F-F84D01B67017}"/>
              </a:ext>
            </a:extLst>
          </p:cNvPr>
          <p:cNvSpPr/>
          <p:nvPr/>
        </p:nvSpPr>
        <p:spPr>
          <a:xfrm>
            <a:off x="3289300" y="3657600"/>
            <a:ext cx="3175000" cy="3130550"/>
          </a:xfrm>
          <a:custGeom>
            <a:avLst/>
            <a:gdLst/>
            <a:ahLst/>
            <a:cxnLst/>
            <a:rect l="l" t="t" r="r" b="b"/>
            <a:pathLst>
              <a:path w="4762500" h="4695825">
                <a:moveTo>
                  <a:pt x="0" y="0"/>
                </a:moveTo>
                <a:lnTo>
                  <a:pt x="4762500" y="0"/>
                </a:lnTo>
                <a:lnTo>
                  <a:pt x="4762500" y="4695825"/>
                </a:lnTo>
                <a:lnTo>
                  <a:pt x="0" y="46958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pt-BR" sz="120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DE60281-0C67-3F7F-BFDC-5AE927F0DA95}"/>
              </a:ext>
            </a:extLst>
          </p:cNvPr>
          <p:cNvSpPr txBox="1"/>
          <p:nvPr/>
        </p:nvSpPr>
        <p:spPr>
          <a:xfrm>
            <a:off x="3686861" y="3874332"/>
            <a:ext cx="2370125" cy="19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Quem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são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os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pesquisadores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?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CE3B123-2006-1B01-8BDB-9FAC3F9A9564}"/>
              </a:ext>
            </a:extLst>
          </p:cNvPr>
          <p:cNvSpPr txBox="1"/>
          <p:nvPr/>
        </p:nvSpPr>
        <p:spPr>
          <a:xfrm>
            <a:off x="3433267" y="4254954"/>
            <a:ext cx="2877312" cy="946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29237" lvl="1" indent="-114618">
              <a:lnSpc>
                <a:spcPts val="1486"/>
              </a:lnSpc>
              <a:buFont typeface="Arial"/>
              <a:buChar char="•"/>
            </a:pPr>
            <a:r>
              <a:rPr lang="en-US" sz="1000" dirty="0" err="1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Integrantes</a:t>
            </a:r>
            <a:r>
              <a:rPr lang="en-US" sz="1000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da equipe </a:t>
            </a:r>
            <a:r>
              <a:rPr lang="en-US" sz="1000" dirty="0" err="1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responsável</a:t>
            </a:r>
            <a:r>
              <a:rPr lang="en-US" sz="1000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pelo</a:t>
            </a:r>
            <a:r>
              <a:rPr lang="en-US" sz="1000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projeto</a:t>
            </a:r>
            <a:r>
              <a:rPr lang="en-US" sz="1000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.</a:t>
            </a:r>
          </a:p>
          <a:p>
            <a:pPr marL="229237" lvl="1" indent="-114618">
              <a:lnSpc>
                <a:spcPts val="1486"/>
              </a:lnSpc>
              <a:buFont typeface="Arial"/>
              <a:buChar char="•"/>
            </a:pPr>
            <a:r>
              <a:rPr lang="en-US" sz="1000" dirty="0" err="1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Alunos</a:t>
            </a:r>
            <a:r>
              <a:rPr lang="en-US" sz="1000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envolvidos</a:t>
            </a:r>
            <a:r>
              <a:rPr lang="en-US" sz="1000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no </a:t>
            </a:r>
            <a:r>
              <a:rPr lang="en-US" sz="1000" dirty="0" err="1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desenvolvimento</a:t>
            </a:r>
            <a:r>
              <a:rPr lang="en-US" sz="1000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.</a:t>
            </a:r>
          </a:p>
          <a:p>
            <a:pPr marL="229237" lvl="1" indent="-114618">
              <a:lnSpc>
                <a:spcPts val="1486"/>
              </a:lnSpc>
              <a:buFont typeface="Arial"/>
              <a:buChar char="•"/>
            </a:pPr>
            <a:r>
              <a:rPr lang="en-US" sz="1000" dirty="0" err="1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Orientador</a:t>
            </a:r>
            <a:r>
              <a:rPr lang="en-US" sz="1000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/professor </a:t>
            </a:r>
            <a:r>
              <a:rPr lang="en-US" sz="1000" dirty="0" err="1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responsável</a:t>
            </a:r>
            <a:r>
              <a:rPr lang="en-US" sz="1000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pelo</a:t>
            </a:r>
            <a:r>
              <a:rPr lang="en-US" sz="1000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acompanhamento</a:t>
            </a:r>
            <a:r>
              <a:rPr lang="en-US" sz="1000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do </a:t>
            </a:r>
            <a:r>
              <a:rPr lang="en-US" sz="1000" dirty="0" err="1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projeto</a:t>
            </a:r>
            <a:r>
              <a:rPr lang="en-US" sz="1000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.</a:t>
            </a:r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474C3157-19FB-7439-B1CB-0CB754B78B48}"/>
              </a:ext>
            </a:extLst>
          </p:cNvPr>
          <p:cNvSpPr/>
          <p:nvPr/>
        </p:nvSpPr>
        <p:spPr>
          <a:xfrm>
            <a:off x="6457950" y="3657600"/>
            <a:ext cx="3295650" cy="3130550"/>
          </a:xfrm>
          <a:custGeom>
            <a:avLst/>
            <a:gdLst/>
            <a:ahLst/>
            <a:cxnLst/>
            <a:rect l="l" t="t" r="r" b="b"/>
            <a:pathLst>
              <a:path w="4943475" h="4695825">
                <a:moveTo>
                  <a:pt x="0" y="0"/>
                </a:moveTo>
                <a:lnTo>
                  <a:pt x="4943475" y="0"/>
                </a:lnTo>
                <a:lnTo>
                  <a:pt x="4943475" y="4695825"/>
                </a:lnTo>
                <a:lnTo>
                  <a:pt x="0" y="46958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pt-BR" sz="1200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3638715-ABF1-AD3F-EDAE-3282FC3A071D}"/>
              </a:ext>
            </a:extLst>
          </p:cNvPr>
          <p:cNvSpPr txBox="1"/>
          <p:nvPr/>
        </p:nvSpPr>
        <p:spPr>
          <a:xfrm>
            <a:off x="6681216" y="3837432"/>
            <a:ext cx="2828544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4"/>
              </a:lnSpc>
            </a:pP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forma a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pesquisa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será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feita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? Quais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materiais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necessários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?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9567728-39F8-ADC8-0C6F-E0F452068042}"/>
              </a:ext>
            </a:extLst>
          </p:cNvPr>
          <p:cNvSpPr txBox="1"/>
          <p:nvPr/>
        </p:nvSpPr>
        <p:spPr>
          <a:xfrm>
            <a:off x="507187" y="1097808"/>
            <a:ext cx="2243328" cy="19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você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quer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descobrir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?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286F1F3-CC1C-594E-97CD-58A81E2452BA}"/>
              </a:ext>
            </a:extLst>
          </p:cNvPr>
          <p:cNvSpPr txBox="1"/>
          <p:nvPr/>
        </p:nvSpPr>
        <p:spPr>
          <a:xfrm>
            <a:off x="3823412" y="1097808"/>
            <a:ext cx="2106777" cy="19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Quem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você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irá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pesquisar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?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4F9C4990-846C-A4D9-77DA-1BB37ED10DCB}"/>
              </a:ext>
            </a:extLst>
          </p:cNvPr>
          <p:cNvSpPr txBox="1"/>
          <p:nvPr/>
        </p:nvSpPr>
        <p:spPr>
          <a:xfrm>
            <a:off x="6954317" y="1097808"/>
            <a:ext cx="2223821" cy="19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5"/>
              </a:lnSpc>
            </a:pP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Onde a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pesquisa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será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203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feita</a:t>
            </a:r>
            <a:r>
              <a:rPr lang="en-US" sz="1203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?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CBF18052-9ABC-7777-8E92-AAA1E05B0875}"/>
              </a:ext>
            </a:extLst>
          </p:cNvPr>
          <p:cNvSpPr txBox="1"/>
          <p:nvPr/>
        </p:nvSpPr>
        <p:spPr>
          <a:xfrm>
            <a:off x="390144" y="3871457"/>
            <a:ext cx="2496921" cy="19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8"/>
              </a:lnSpc>
            </a:pPr>
            <a:r>
              <a:rPr lang="en-US" sz="1227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Quando a </a:t>
            </a:r>
            <a:r>
              <a:rPr lang="en-US" sz="1227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pesquisa</a:t>
            </a:r>
            <a:r>
              <a:rPr lang="en-US" sz="1227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227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será</a:t>
            </a:r>
            <a:r>
              <a:rPr lang="en-US" sz="1227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227" b="1" dirty="0" err="1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feita</a:t>
            </a:r>
            <a:r>
              <a:rPr lang="en-US" sz="1227" b="1" dirty="0">
                <a:solidFill>
                  <a:srgbClr val="9200F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?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19BA9FEA-1059-445A-DDBD-B097E26E6399}"/>
              </a:ext>
            </a:extLst>
          </p:cNvPr>
          <p:cNvSpPr txBox="1"/>
          <p:nvPr/>
        </p:nvSpPr>
        <p:spPr>
          <a:xfrm>
            <a:off x="6651955" y="4306173"/>
            <a:ext cx="2877312" cy="1220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1450" indent="-171450">
              <a:lnSpc>
                <a:spcPts val="1221"/>
              </a:lnSpc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rgbClr val="000000"/>
                </a:solidFill>
                <a:latin typeface="Montserrat Light" panose="00000400000000000000" pitchFamily="2" charset="0"/>
                <a:ea typeface="Montserrat Bold"/>
                <a:cs typeface="Montserrat Bold"/>
                <a:sym typeface="Montserrat Bold"/>
              </a:rPr>
              <a:t>Entrevistas semiestruturadas; </a:t>
            </a:r>
          </a:p>
          <a:p>
            <a:pPr marL="171450" indent="-171450">
              <a:lnSpc>
                <a:spcPts val="1221"/>
              </a:lnSpc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rgbClr val="000000"/>
                </a:solidFill>
                <a:latin typeface="Montserrat Light" panose="00000400000000000000" pitchFamily="2" charset="0"/>
                <a:ea typeface="Montserrat Bold"/>
                <a:cs typeface="Montserrat Bold"/>
                <a:sym typeface="Montserrat Bold"/>
              </a:rPr>
              <a:t>Questionários; </a:t>
            </a:r>
          </a:p>
          <a:p>
            <a:pPr marL="171450" indent="-171450">
              <a:lnSpc>
                <a:spcPts val="1221"/>
              </a:lnSpc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rgbClr val="000000"/>
                </a:solidFill>
                <a:latin typeface="Montserrat Light" panose="00000400000000000000" pitchFamily="2" charset="0"/>
                <a:ea typeface="Montserrat Bold"/>
                <a:cs typeface="Montserrat Bold"/>
                <a:sym typeface="Montserrat Bold"/>
              </a:rPr>
              <a:t>Análise das dificuldades relatadas; </a:t>
            </a:r>
          </a:p>
          <a:p>
            <a:pPr marL="171450" indent="-171450">
              <a:lnSpc>
                <a:spcPts val="1221"/>
              </a:lnSpc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rgbClr val="000000"/>
                </a:solidFill>
                <a:latin typeface="Montserrat Light" panose="00000400000000000000" pitchFamily="2" charset="0"/>
                <a:ea typeface="Montserrat Bold"/>
                <a:cs typeface="Montserrat Bold"/>
                <a:sym typeface="Montserrat Bold"/>
              </a:rPr>
              <a:t>Consulta a dados públicos sobre chuvas, rios e enchentes; </a:t>
            </a:r>
          </a:p>
          <a:p>
            <a:pPr marL="171450" indent="-171450">
              <a:lnSpc>
                <a:spcPts val="1221"/>
              </a:lnSpc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rgbClr val="000000"/>
                </a:solidFill>
                <a:latin typeface="Montserrat Light" panose="00000400000000000000" pitchFamily="2" charset="0"/>
                <a:ea typeface="Montserrat Bold"/>
                <a:cs typeface="Montserrat Bold"/>
                <a:sym typeface="Montserrat Bold"/>
              </a:rPr>
              <a:t>Materiais: roteiro, questionário, celular/computador, internet e documentação das fontes.</a:t>
            </a:r>
          </a:p>
        </p:txBody>
      </p:sp>
    </p:spTree>
    <p:extLst>
      <p:ext uri="{BB962C8B-B14F-4D97-AF65-F5344CB8AC3E}">
        <p14:creationId xmlns:p14="http://schemas.microsoft.com/office/powerpoint/2010/main" val="3937948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229</Words>
  <Application>Microsoft Office PowerPoint</Application>
  <PresentationFormat>Personalizar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Montserrat Bold</vt:lpstr>
      <vt:lpstr>Montserrat Light</vt:lpstr>
      <vt:lpstr>Arial</vt:lpstr>
      <vt:lpstr>Calibri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Preparação para Imersão (Loys Lane)</dc:title>
  <dc:creator>Phablo</dc:creator>
  <cp:lastModifiedBy>Phablo Escobar Ramos Correia</cp:lastModifiedBy>
  <cp:revision>6</cp:revision>
  <cp:lastPrinted>2026-08-30T23:27:49Z</cp:lastPrinted>
  <dcterms:created xsi:type="dcterms:W3CDTF">2006-08-16T00:00:00Z</dcterms:created>
  <dcterms:modified xsi:type="dcterms:W3CDTF">2026-08-30T23:27:56Z</dcterms:modified>
  <dc:identifier>DAHTr3GXuQo</dc:identifier>
</cp:coreProperties>
</file>