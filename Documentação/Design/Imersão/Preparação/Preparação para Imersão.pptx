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1" r:id="rId6"/>
  </p:sldIdLst>
  <p:sldSz cx="9753600" cy="7315200"/>
  <p:notesSz cx="6858000" cy="9144000"/>
  <p:embeddedFontLst>
    <p:embeddedFont>
      <p:font typeface="HK Grotesk Bold" panose="020B0604020202020204" charset="0"/>
      <p:regular r:id="rId7"/>
    </p:embeddedFont>
    <p:embeddedFont>
      <p:font typeface="Montserrat" panose="00000500000000000000" pitchFamily="2" charset="0"/>
      <p:regular r:id="rId8"/>
    </p:embeddedFont>
    <p:embeddedFont>
      <p:font typeface="Montserrat Bold" panose="020B0604020202020204" charset="0"/>
      <p:regular r:id="rId9"/>
    </p:embeddedFont>
    <p:embeddedFont>
      <p:font typeface="Montserrat Light" panose="00000400000000000000" pitchFamily="2" charset="0"/>
      <p:regular r:id="rId10"/>
      <p:italic r:id="rId11"/>
    </p:embeddedFont>
    <p:embeddedFont>
      <p:font typeface="Open Sans Bold" panose="020B0604020202020204" charset="0"/>
      <p:regular r:id="rId12"/>
      <p:bold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Bold" panose="00000800000000000000" charset="0"/>
      <p:regular r:id="rId18"/>
      <p:bold r:id="rId19"/>
    </p:embeddedFont>
    <p:embeddedFont>
      <p:font typeface="Poppins Medium" panose="00000600000000000000" pitchFamily="2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15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viewProps" Target="view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1177" y="2097791"/>
            <a:ext cx="2456160" cy="1778101"/>
            <a:chOff x="0" y="0"/>
            <a:chExt cx="710694" cy="5144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0694" cy="514497"/>
            </a:xfrm>
            <a:custGeom>
              <a:avLst/>
              <a:gdLst/>
              <a:ahLst/>
              <a:cxnLst/>
              <a:rect l="l" t="t" r="r" b="b"/>
              <a:pathLst>
                <a:path w="710694" h="514497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9312" y="572785"/>
            <a:ext cx="10514278" cy="878664"/>
            <a:chOff x="0" y="0"/>
            <a:chExt cx="3042326" cy="2542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42326" cy="254243"/>
            </a:xfrm>
            <a:custGeom>
              <a:avLst/>
              <a:gdLst/>
              <a:ahLst/>
              <a:cxnLst/>
              <a:rect l="l" t="t" r="r" b="b"/>
              <a:pathLst>
                <a:path w="3042326" h="254243">
                  <a:moveTo>
                    <a:pt x="2301" y="0"/>
                  </a:moveTo>
                  <a:lnTo>
                    <a:pt x="3040025" y="0"/>
                  </a:lnTo>
                  <a:cubicBezTo>
                    <a:pt x="3040635" y="0"/>
                    <a:pt x="3041220" y="242"/>
                    <a:pt x="3041652" y="674"/>
                  </a:cubicBezTo>
                  <a:cubicBezTo>
                    <a:pt x="3042083" y="1105"/>
                    <a:pt x="3042326" y="1691"/>
                    <a:pt x="3042326" y="2301"/>
                  </a:cubicBezTo>
                  <a:lnTo>
                    <a:pt x="3042326" y="251942"/>
                  </a:lnTo>
                  <a:cubicBezTo>
                    <a:pt x="3042326" y="252552"/>
                    <a:pt x="3042083" y="253138"/>
                    <a:pt x="3041652" y="253569"/>
                  </a:cubicBezTo>
                  <a:cubicBezTo>
                    <a:pt x="3041220" y="254001"/>
                    <a:pt x="3040635" y="254243"/>
                    <a:pt x="3040025" y="254243"/>
                  </a:cubicBezTo>
                  <a:lnTo>
                    <a:pt x="2301" y="254243"/>
                  </a:lnTo>
                  <a:cubicBezTo>
                    <a:pt x="1691" y="254243"/>
                    <a:pt x="1105" y="254001"/>
                    <a:pt x="674" y="253569"/>
                  </a:cubicBezTo>
                  <a:cubicBezTo>
                    <a:pt x="242" y="253138"/>
                    <a:pt x="0" y="252552"/>
                    <a:pt x="0" y="251942"/>
                  </a:cubicBezTo>
                  <a:lnTo>
                    <a:pt x="0" y="2301"/>
                  </a:lnTo>
                  <a:cubicBezTo>
                    <a:pt x="0" y="1691"/>
                    <a:pt x="242" y="1105"/>
                    <a:pt x="674" y="674"/>
                  </a:cubicBezTo>
                  <a:cubicBezTo>
                    <a:pt x="1105" y="242"/>
                    <a:pt x="1691" y="0"/>
                    <a:pt x="2301" y="0"/>
                  </a:cubicBezTo>
                  <a:close/>
                </a:path>
              </a:pathLst>
            </a:custGeom>
            <a:solidFill>
              <a:srgbClr val="5CB6F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42326" cy="282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V="1">
            <a:off x="8700303" y="6299097"/>
            <a:ext cx="1157399" cy="1144773"/>
          </a:xfrm>
          <a:custGeom>
            <a:avLst/>
            <a:gdLst/>
            <a:ahLst/>
            <a:cxnLst/>
            <a:rect l="l" t="t" r="r" b="b"/>
            <a:pathLst>
              <a:path w="1157399" h="1144773">
                <a:moveTo>
                  <a:pt x="0" y="1144773"/>
                </a:moveTo>
                <a:lnTo>
                  <a:pt x="1157399" y="1144773"/>
                </a:lnTo>
                <a:lnTo>
                  <a:pt x="1157399" y="0"/>
                </a:lnTo>
                <a:lnTo>
                  <a:pt x="0" y="0"/>
                </a:lnTo>
                <a:lnTo>
                  <a:pt x="0" y="11447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 flipH="1" flipV="1">
            <a:off x="-104102" y="6299097"/>
            <a:ext cx="1157399" cy="1144773"/>
          </a:xfrm>
          <a:custGeom>
            <a:avLst/>
            <a:gdLst/>
            <a:ahLst/>
            <a:cxnLst/>
            <a:rect l="l" t="t" r="r" b="b"/>
            <a:pathLst>
              <a:path w="1157399" h="1144773">
                <a:moveTo>
                  <a:pt x="1157399" y="1144773"/>
                </a:moveTo>
                <a:lnTo>
                  <a:pt x="0" y="1144773"/>
                </a:lnTo>
                <a:lnTo>
                  <a:pt x="0" y="0"/>
                </a:lnTo>
                <a:lnTo>
                  <a:pt x="1157399" y="0"/>
                </a:lnTo>
                <a:lnTo>
                  <a:pt x="1157399" y="11447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421177" y="2210845"/>
            <a:ext cx="2454676" cy="1465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1" spc="95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O QUE VOCÊ QUER DESCOBRIR?</a:t>
            </a:r>
          </a:p>
          <a:p>
            <a:pPr algn="l">
              <a:lnSpc>
                <a:spcPts val="1679"/>
              </a:lnSpc>
            </a:pPr>
            <a:endParaRPr lang="en-US" sz="1199" b="1" spc="95" dirty="0">
              <a:solidFill>
                <a:srgbClr val="050A3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Queremos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descobrir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como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prever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melhor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o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risco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enchentes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e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inundações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no Espírito Santo.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4598" y="683287"/>
            <a:ext cx="8804404" cy="57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  <a:spcBef>
                <a:spcPct val="0"/>
              </a:spcBef>
            </a:pPr>
            <a:r>
              <a:rPr lang="en-US" sz="3315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Preparação Para Imersão Profunda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73504" y="1930337"/>
            <a:ext cx="0" cy="4653343"/>
          </a:xfrm>
          <a:prstGeom prst="line">
            <a:avLst/>
          </a:prstGeom>
          <a:ln w="38100" cap="flat">
            <a:solidFill>
              <a:srgbClr val="1222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3" name="AutoShape 13"/>
          <p:cNvSpPr/>
          <p:nvPr/>
        </p:nvSpPr>
        <p:spPr>
          <a:xfrm>
            <a:off x="3190178" y="1930337"/>
            <a:ext cx="0" cy="4653343"/>
          </a:xfrm>
          <a:prstGeom prst="line">
            <a:avLst/>
          </a:prstGeom>
          <a:ln w="38100" cap="flat">
            <a:solidFill>
              <a:srgbClr val="1222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4" name="AutoShape 14"/>
          <p:cNvSpPr/>
          <p:nvPr/>
        </p:nvSpPr>
        <p:spPr>
          <a:xfrm>
            <a:off x="287097" y="4125792"/>
            <a:ext cx="8814033" cy="0"/>
          </a:xfrm>
          <a:prstGeom prst="line">
            <a:avLst/>
          </a:prstGeom>
          <a:ln w="38100" cap="flat">
            <a:solidFill>
              <a:srgbClr val="1222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5" name="Group 15"/>
          <p:cNvGrpSpPr/>
          <p:nvPr/>
        </p:nvGrpSpPr>
        <p:grpSpPr>
          <a:xfrm>
            <a:off x="6587829" y="2083903"/>
            <a:ext cx="2456160" cy="1778101"/>
            <a:chOff x="0" y="0"/>
            <a:chExt cx="710694" cy="5144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10694" cy="514497"/>
            </a:xfrm>
            <a:custGeom>
              <a:avLst/>
              <a:gdLst/>
              <a:ahLst/>
              <a:cxnLst/>
              <a:rect l="l" t="t" r="r" b="b"/>
              <a:pathLst>
                <a:path w="710694" h="514497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6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587829" y="2236596"/>
            <a:ext cx="2456160" cy="1255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1" spc="95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ONDE A PESQUISA SERÁ FEITA?</a:t>
            </a:r>
          </a:p>
          <a:p>
            <a:pPr algn="l">
              <a:lnSpc>
                <a:spcPts val="1679"/>
              </a:lnSpc>
            </a:pPr>
            <a:endParaRPr lang="en-US" sz="1199" b="1" spc="95" dirty="0">
              <a:solidFill>
                <a:srgbClr val="050A3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pesquisa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será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realizada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no Espírito Santo,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instituições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como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o Corpo de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Bombeiros</a:t>
            </a:r>
            <a:endParaRPr lang="en-US" sz="1199" b="1" dirty="0">
              <a:solidFill>
                <a:srgbClr val="050A3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421177" y="4402560"/>
            <a:ext cx="2456160" cy="1778101"/>
            <a:chOff x="0" y="0"/>
            <a:chExt cx="710694" cy="51449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0694" cy="514497"/>
            </a:xfrm>
            <a:custGeom>
              <a:avLst/>
              <a:gdLst/>
              <a:ahLst/>
              <a:cxnLst/>
              <a:rect l="l" t="t" r="r" b="b"/>
              <a:pathLst>
                <a:path w="710694" h="514497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6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40227" y="4651245"/>
            <a:ext cx="2454676" cy="125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Quando a </a:t>
            </a:r>
            <a:r>
              <a:rPr lang="en-US" sz="1200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pesquisa</a:t>
            </a:r>
            <a:r>
              <a:rPr lang="en-US" sz="1200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200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será</a:t>
            </a:r>
            <a:r>
              <a:rPr lang="en-US" sz="1200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200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feita</a:t>
            </a:r>
            <a:r>
              <a:rPr lang="en-US" sz="1200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?</a:t>
            </a:r>
          </a:p>
          <a:p>
            <a:pPr algn="l">
              <a:lnSpc>
                <a:spcPts val="1679"/>
              </a:lnSpc>
            </a:pPr>
            <a:endParaRPr lang="en-US" sz="1200" b="1" dirty="0">
              <a:solidFill>
                <a:srgbClr val="050A3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durante</a:t>
            </a:r>
            <a:r>
              <a:rPr lang="en-US" sz="1200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1200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desenvolvimento</a:t>
            </a:r>
            <a:r>
              <a:rPr lang="en-US" sz="1200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1200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r>
              <a:rPr lang="en-US" sz="1200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200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1200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datas</a:t>
            </a:r>
            <a:r>
              <a:rPr lang="en-US" sz="1200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previamente</a:t>
            </a:r>
            <a:r>
              <a:rPr lang="en-US" sz="1200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combinadas</a:t>
            </a:r>
            <a:r>
              <a:rPr lang="en-US" sz="1200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com </a:t>
            </a:r>
            <a:r>
              <a:rPr lang="en-US" sz="1200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r>
              <a:rPr lang="en-US" sz="1200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Bombeiros</a:t>
            </a:r>
            <a:r>
              <a:rPr lang="en-US" sz="1200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552128" y="4402560"/>
            <a:ext cx="2456160" cy="1778101"/>
            <a:chOff x="0" y="0"/>
            <a:chExt cx="710694" cy="51449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0694" cy="514497"/>
            </a:xfrm>
            <a:custGeom>
              <a:avLst/>
              <a:gdLst/>
              <a:ahLst/>
              <a:cxnLst/>
              <a:rect l="l" t="t" r="r" b="b"/>
              <a:pathLst>
                <a:path w="710694" h="514497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6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555505" y="4791415"/>
            <a:ext cx="2452783" cy="62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Quem </a:t>
            </a:r>
            <a:r>
              <a:rPr lang="en-US" sz="1199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são</a:t>
            </a:r>
            <a:r>
              <a:rPr lang="en-US" sz="1199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os</a:t>
            </a:r>
            <a:r>
              <a:rPr lang="en-US" sz="1199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pesquisadores</a:t>
            </a:r>
            <a:r>
              <a:rPr lang="en-US" sz="1199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?</a:t>
            </a:r>
          </a:p>
          <a:p>
            <a:pPr algn="l">
              <a:lnSpc>
                <a:spcPts val="1679"/>
              </a:lnSpc>
            </a:pPr>
            <a:endParaRPr lang="en-US" sz="1199" b="1" dirty="0">
              <a:solidFill>
                <a:srgbClr val="050A3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199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r>
              <a:rPr lang="en-US" sz="1199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99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integrantes</a:t>
            </a:r>
            <a:r>
              <a:rPr lang="en-US" sz="1199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1199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grupo</a:t>
            </a:r>
            <a:r>
              <a:rPr lang="en-US" sz="1199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587829" y="4402560"/>
            <a:ext cx="2456160" cy="1778101"/>
            <a:chOff x="0" y="0"/>
            <a:chExt cx="710694" cy="5144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10694" cy="514497"/>
            </a:xfrm>
            <a:custGeom>
              <a:avLst/>
              <a:gdLst/>
              <a:ahLst/>
              <a:cxnLst/>
              <a:rect l="l" t="t" r="r" b="b"/>
              <a:pathLst>
                <a:path w="710694" h="514497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6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609738" y="4508029"/>
            <a:ext cx="2434251" cy="1529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De </a:t>
            </a:r>
            <a:r>
              <a:rPr lang="en-US" sz="1026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que</a:t>
            </a:r>
            <a:r>
              <a:rPr lang="en-US" sz="1026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 forma a </a:t>
            </a:r>
            <a:r>
              <a:rPr lang="en-US" sz="1026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pesquisa</a:t>
            </a:r>
            <a:r>
              <a:rPr lang="en-US" sz="1026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26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será</a:t>
            </a:r>
            <a:r>
              <a:rPr lang="en-US" sz="1026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26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feita</a:t>
            </a:r>
            <a:r>
              <a:rPr lang="en-US" sz="1026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? quais </a:t>
            </a:r>
            <a:r>
              <a:rPr lang="en-US" sz="1026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materiais</a:t>
            </a:r>
            <a:r>
              <a:rPr lang="en-US" sz="1026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26" b="1" dirty="0" err="1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necessários</a:t>
            </a:r>
            <a:r>
              <a:rPr lang="en-US" sz="1026" b="1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?</a:t>
            </a:r>
          </a:p>
          <a:p>
            <a:pPr algn="l">
              <a:lnSpc>
                <a:spcPts val="1437"/>
              </a:lnSpc>
            </a:pPr>
            <a:endParaRPr lang="en-US" sz="1026" b="1" dirty="0">
              <a:solidFill>
                <a:srgbClr val="050A3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1317"/>
              </a:lnSpc>
              <a:spcBef>
                <a:spcPct val="0"/>
              </a:spcBef>
            </a:pP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pesquisa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será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feita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por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meio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questionários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com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bombeiros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entrevistas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com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moradores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análise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de dados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públicos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chuvas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rios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enchentes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, 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utilizando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41" dirty="0" err="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computador</a:t>
            </a:r>
            <a:r>
              <a:rPr lang="en-US" sz="941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, internet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3504503" y="2097791"/>
            <a:ext cx="2456160" cy="1778101"/>
            <a:chOff x="0" y="0"/>
            <a:chExt cx="710694" cy="5144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10694" cy="514497"/>
            </a:xfrm>
            <a:custGeom>
              <a:avLst/>
              <a:gdLst/>
              <a:ahLst/>
              <a:cxnLst/>
              <a:rect l="l" t="t" r="r" b="b"/>
              <a:pathLst>
                <a:path w="710694" h="514497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6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3504503" y="2344768"/>
            <a:ext cx="2456160" cy="1255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1" spc="95" dirty="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QUEM VOCÊ IRÁ PESQUISAR?</a:t>
            </a:r>
          </a:p>
          <a:p>
            <a:pPr algn="l">
              <a:lnSpc>
                <a:spcPts val="1679"/>
              </a:lnSpc>
            </a:pPr>
            <a:endParaRPr lang="en-US" sz="1199" b="1" spc="95" dirty="0">
              <a:solidFill>
                <a:srgbClr val="050A3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Pesquisaremos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bombeiros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profissionais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da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Defesa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Civil,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moradores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áreas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que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já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sofreram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com </a:t>
            </a:r>
            <a:r>
              <a:rPr lang="en-US" sz="1199" b="1" dirty="0" err="1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enchentes</a:t>
            </a:r>
            <a:r>
              <a:rPr lang="en-US" sz="1199" b="1" dirty="0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02374" y="6762886"/>
            <a:ext cx="750906" cy="19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 dirty="0">
                <a:solidFill>
                  <a:srgbClr val="050A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Loys Lane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6400"/>
            <a:ext cx="9753600" cy="6502400"/>
          </a:xfrm>
          <a:custGeom>
            <a:avLst/>
            <a:gdLst/>
            <a:ahLst/>
            <a:cxnLst/>
            <a:rect l="l" t="t" r="r" b="b"/>
            <a:pathLst>
              <a:path w="14630400" h="97536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3" name="TextBox 3"/>
          <p:cNvSpPr txBox="1"/>
          <p:nvPr/>
        </p:nvSpPr>
        <p:spPr>
          <a:xfrm>
            <a:off x="195072" y="450076"/>
            <a:ext cx="5735117" cy="32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9"/>
              </a:lnSpc>
            </a:pPr>
            <a:r>
              <a:rPr lang="en-US" sz="2007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PREPARAÇÃO PARA IMERSÃO PROFUNDA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901700"/>
            <a:ext cx="3295650" cy="2755900"/>
          </a:xfrm>
          <a:custGeom>
            <a:avLst/>
            <a:gdLst/>
            <a:ahLst/>
            <a:cxnLst/>
            <a:rect l="l" t="t" r="r" b="b"/>
            <a:pathLst>
              <a:path w="4943475" h="4133850">
                <a:moveTo>
                  <a:pt x="0" y="0"/>
                </a:moveTo>
                <a:lnTo>
                  <a:pt x="4943475" y="0"/>
                </a:lnTo>
                <a:lnTo>
                  <a:pt x="4943475" y="4133850"/>
                </a:lnTo>
                <a:lnTo>
                  <a:pt x="0" y="4133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5" name="TextBox 5"/>
          <p:cNvSpPr txBox="1"/>
          <p:nvPr/>
        </p:nvSpPr>
        <p:spPr>
          <a:xfrm>
            <a:off x="195073" y="1395454"/>
            <a:ext cx="2701747" cy="198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3519" lvl="1" indent="-96760">
              <a:lnSpc>
                <a:spcPts val="1255"/>
              </a:lnSpc>
              <a:buFont typeface="Arial"/>
              <a:buChar char="•"/>
            </a:pPr>
            <a:r>
              <a:rPr lang="en-US" sz="89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Como as pessoas atualmente acompanham riscos de enchentes e inundações.</a:t>
            </a:r>
          </a:p>
          <a:p>
            <a:pPr marL="193519" lvl="1" indent="-96760">
              <a:lnSpc>
                <a:spcPts val="1255"/>
              </a:lnSpc>
              <a:buFont typeface="Arial"/>
              <a:buChar char="•"/>
            </a:pPr>
            <a:r>
              <a:rPr lang="en-US" sz="89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Quais informações são mais importantes para identificar uma situação de risco.</a:t>
            </a:r>
          </a:p>
          <a:p>
            <a:pPr marL="193519" lvl="1" indent="-96760">
              <a:lnSpc>
                <a:spcPts val="1255"/>
              </a:lnSpc>
              <a:buFont typeface="Arial"/>
              <a:buChar char="•"/>
            </a:pPr>
            <a:r>
              <a:rPr lang="en-US" sz="89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Quais dificuldades existem para encontrar e interpretar informações.</a:t>
            </a:r>
          </a:p>
          <a:p>
            <a:pPr marL="193519" lvl="1" indent="-96760">
              <a:lnSpc>
                <a:spcPts val="1255"/>
              </a:lnSpc>
              <a:buFont typeface="Arial"/>
              <a:buChar char="•"/>
            </a:pPr>
            <a:r>
              <a:rPr lang="en-US" sz="89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Como os usuários utilizam informações de chuva, rios e ocorências anteriores.</a:t>
            </a:r>
          </a:p>
          <a:p>
            <a:pPr marL="193519" lvl="1" indent="-96760">
              <a:lnSpc>
                <a:spcPts val="1255"/>
              </a:lnSpc>
              <a:buFont typeface="Arial"/>
              <a:buChar char="•"/>
            </a:pPr>
            <a:r>
              <a:rPr lang="en-US" sz="89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Qual antecedência seria mais útil para receber informações sobre risco.</a:t>
            </a:r>
          </a:p>
          <a:p>
            <a:pPr marL="193519" lvl="1" indent="-96760">
              <a:lnSpc>
                <a:spcPts val="1255"/>
              </a:lnSpc>
              <a:buFont typeface="Arial"/>
              <a:buChar char="•"/>
            </a:pPr>
            <a:r>
              <a:rPr lang="en-US" sz="89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Quais informações aumentariam a confiança na previsão apresentada pelo sistema.</a:t>
            </a:r>
          </a:p>
        </p:txBody>
      </p:sp>
      <p:sp>
        <p:nvSpPr>
          <p:cNvPr id="6" name="Freeform 6"/>
          <p:cNvSpPr/>
          <p:nvPr/>
        </p:nvSpPr>
        <p:spPr>
          <a:xfrm>
            <a:off x="3289300" y="901700"/>
            <a:ext cx="3175000" cy="2755900"/>
          </a:xfrm>
          <a:custGeom>
            <a:avLst/>
            <a:gdLst/>
            <a:ahLst/>
            <a:cxnLst/>
            <a:rect l="l" t="t" r="r" b="b"/>
            <a:pathLst>
              <a:path w="4762500" h="4133850">
                <a:moveTo>
                  <a:pt x="0" y="0"/>
                </a:moveTo>
                <a:lnTo>
                  <a:pt x="4762500" y="0"/>
                </a:lnTo>
                <a:lnTo>
                  <a:pt x="4762500" y="4133850"/>
                </a:lnTo>
                <a:lnTo>
                  <a:pt x="0" y="4133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7" name="TextBox 7"/>
          <p:cNvSpPr txBox="1"/>
          <p:nvPr/>
        </p:nvSpPr>
        <p:spPr>
          <a:xfrm>
            <a:off x="3433267" y="1469726"/>
            <a:ext cx="2877312" cy="707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9032" lvl="1" indent="-109516">
              <a:lnSpc>
                <a:spcPts val="1420"/>
              </a:lnSpc>
              <a:buFont typeface="Arial"/>
              <a:buChar char="•"/>
            </a:pPr>
            <a:r>
              <a:rPr lang="en-US" sz="1014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Moradores de regiões sujeitas a enchentes e inundações.</a:t>
            </a:r>
          </a:p>
          <a:p>
            <a:pPr marL="219032" lvl="1" indent="-109516">
              <a:lnSpc>
                <a:spcPts val="1420"/>
              </a:lnSpc>
              <a:buFont typeface="Arial"/>
              <a:buChar char="•"/>
            </a:pPr>
            <a:r>
              <a:rPr lang="en-US" sz="1014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Pessoas que já vivenciaram situações de enchentes.</a:t>
            </a:r>
          </a:p>
        </p:txBody>
      </p:sp>
      <p:sp>
        <p:nvSpPr>
          <p:cNvPr id="8" name="Freeform 8"/>
          <p:cNvSpPr/>
          <p:nvPr/>
        </p:nvSpPr>
        <p:spPr>
          <a:xfrm>
            <a:off x="6457950" y="901700"/>
            <a:ext cx="3295650" cy="2755900"/>
          </a:xfrm>
          <a:custGeom>
            <a:avLst/>
            <a:gdLst/>
            <a:ahLst/>
            <a:cxnLst/>
            <a:rect l="l" t="t" r="r" b="b"/>
            <a:pathLst>
              <a:path w="4943475" h="4133850">
                <a:moveTo>
                  <a:pt x="0" y="0"/>
                </a:moveTo>
                <a:lnTo>
                  <a:pt x="4943475" y="0"/>
                </a:lnTo>
                <a:lnTo>
                  <a:pt x="4943475" y="4133850"/>
                </a:lnTo>
                <a:lnTo>
                  <a:pt x="0" y="4133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9" name="TextBox 9"/>
          <p:cNvSpPr txBox="1"/>
          <p:nvPr/>
        </p:nvSpPr>
        <p:spPr>
          <a:xfrm>
            <a:off x="6651955" y="1426307"/>
            <a:ext cx="2877312" cy="49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3724" lvl="1" indent="-101862">
              <a:lnSpc>
                <a:spcPts val="1321"/>
              </a:lnSpc>
              <a:buFont typeface="Arial"/>
              <a:buChar char="•"/>
            </a:pPr>
            <a:r>
              <a:rPr lang="en-US" sz="943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Em regiões sujeitas a enchentes e inundações.</a:t>
            </a:r>
          </a:p>
          <a:p>
            <a:pPr marL="203724" lvl="1" indent="-101862">
              <a:lnSpc>
                <a:spcPts val="1321"/>
              </a:lnSpc>
              <a:buFont typeface="Arial"/>
              <a:buChar char="•"/>
            </a:pPr>
            <a:r>
              <a:rPr lang="en-US" sz="943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 moradores das regiões analisadas.</a:t>
            </a:r>
          </a:p>
          <a:p>
            <a:pPr>
              <a:lnSpc>
                <a:spcPts val="1321"/>
              </a:lnSpc>
            </a:pPr>
            <a:endParaRPr lang="en-US" sz="943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0" y="3657600"/>
            <a:ext cx="3295650" cy="3130550"/>
          </a:xfrm>
          <a:custGeom>
            <a:avLst/>
            <a:gdLst/>
            <a:ahLst/>
            <a:cxnLst/>
            <a:rect l="l" t="t" r="r" b="b"/>
            <a:pathLst>
              <a:path w="4943475" h="4695825">
                <a:moveTo>
                  <a:pt x="0" y="0"/>
                </a:moveTo>
                <a:lnTo>
                  <a:pt x="4943475" y="0"/>
                </a:lnTo>
                <a:lnTo>
                  <a:pt x="4943475" y="4695825"/>
                </a:lnTo>
                <a:lnTo>
                  <a:pt x="0" y="4695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11" name="TextBox 11"/>
          <p:cNvSpPr txBox="1"/>
          <p:nvPr/>
        </p:nvSpPr>
        <p:spPr>
          <a:xfrm>
            <a:off x="146304" y="4226409"/>
            <a:ext cx="2877312" cy="11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4134" lvl="1" indent="-112067">
              <a:lnSpc>
                <a:spcPts val="1453"/>
              </a:lnSpc>
              <a:buFont typeface="Arial"/>
              <a:buChar char="•"/>
            </a:pPr>
            <a:r>
              <a:rPr lang="en-US" sz="103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Durante a etapa de levantamento e validação dos requisitos.</a:t>
            </a:r>
          </a:p>
          <a:p>
            <a:pPr marL="224134" lvl="1" indent="-112067">
              <a:lnSpc>
                <a:spcPts val="1453"/>
              </a:lnSpc>
              <a:buFont typeface="Arial"/>
              <a:buChar char="•"/>
            </a:pPr>
            <a:r>
              <a:rPr lang="en-US" sz="103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Antes da definição final das funcionalidades do sistema.</a:t>
            </a:r>
          </a:p>
          <a:p>
            <a:pPr marL="224134" lvl="1" indent="-112067">
              <a:lnSpc>
                <a:spcPts val="1453"/>
              </a:lnSpc>
              <a:buFont typeface="Arial"/>
              <a:buChar char="•"/>
            </a:pPr>
            <a:r>
              <a:rPr lang="en-US" sz="103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Após a criação do protótipo, para validar a compreensão e utilização da solução.</a:t>
            </a:r>
          </a:p>
        </p:txBody>
      </p:sp>
      <p:sp>
        <p:nvSpPr>
          <p:cNvPr id="12" name="Freeform 12"/>
          <p:cNvSpPr/>
          <p:nvPr/>
        </p:nvSpPr>
        <p:spPr>
          <a:xfrm>
            <a:off x="3289300" y="3657600"/>
            <a:ext cx="3175000" cy="3130550"/>
          </a:xfrm>
          <a:custGeom>
            <a:avLst/>
            <a:gdLst/>
            <a:ahLst/>
            <a:cxnLst/>
            <a:rect l="l" t="t" r="r" b="b"/>
            <a:pathLst>
              <a:path w="4762500" h="4695825">
                <a:moveTo>
                  <a:pt x="0" y="0"/>
                </a:moveTo>
                <a:lnTo>
                  <a:pt x="4762500" y="0"/>
                </a:lnTo>
                <a:lnTo>
                  <a:pt x="4762500" y="4695825"/>
                </a:lnTo>
                <a:lnTo>
                  <a:pt x="0" y="4695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13" name="TextBox 13"/>
          <p:cNvSpPr txBox="1"/>
          <p:nvPr/>
        </p:nvSpPr>
        <p:spPr>
          <a:xfrm>
            <a:off x="3686861" y="3874332"/>
            <a:ext cx="2370125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 são os pesquisadores?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33267" y="4254954"/>
            <a:ext cx="2877312" cy="757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9237" lvl="1" indent="-114618">
              <a:lnSpc>
                <a:spcPts val="1486"/>
              </a:lnSpc>
              <a:buFont typeface="Arial"/>
              <a:buChar char="•"/>
            </a:pPr>
            <a:r>
              <a:rPr lang="en-US" sz="106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Integrantes da equipe responsável pelo projeto.</a:t>
            </a:r>
          </a:p>
          <a:p>
            <a:pPr marL="229237" lvl="1" indent="-114618">
              <a:lnSpc>
                <a:spcPts val="1486"/>
              </a:lnSpc>
              <a:buFont typeface="Arial"/>
              <a:buChar char="•"/>
            </a:pPr>
            <a:r>
              <a:rPr lang="en-US" sz="106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Alunos envolvidos no desenvolvimento.</a:t>
            </a:r>
          </a:p>
          <a:p>
            <a:pPr marL="229237" lvl="1" indent="-114618">
              <a:lnSpc>
                <a:spcPts val="1486"/>
              </a:lnSpc>
              <a:buFont typeface="Arial"/>
              <a:buChar char="•"/>
            </a:pPr>
            <a:r>
              <a:rPr lang="en-US" sz="106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Orientador/professor responsável pelo acompanhamento do projeto.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57950" y="3657600"/>
            <a:ext cx="3295650" cy="3130550"/>
          </a:xfrm>
          <a:custGeom>
            <a:avLst/>
            <a:gdLst/>
            <a:ahLst/>
            <a:cxnLst/>
            <a:rect l="l" t="t" r="r" b="b"/>
            <a:pathLst>
              <a:path w="4943475" h="4695825">
                <a:moveTo>
                  <a:pt x="0" y="0"/>
                </a:moveTo>
                <a:lnTo>
                  <a:pt x="4943475" y="0"/>
                </a:lnTo>
                <a:lnTo>
                  <a:pt x="4943475" y="4695825"/>
                </a:lnTo>
                <a:lnTo>
                  <a:pt x="0" y="4695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16" name="TextBox 16"/>
          <p:cNvSpPr txBox="1"/>
          <p:nvPr/>
        </p:nvSpPr>
        <p:spPr>
          <a:xfrm>
            <a:off x="6681216" y="3837432"/>
            <a:ext cx="2828544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4"/>
              </a:lnSpc>
            </a:pPr>
            <a:r>
              <a:rPr lang="en-US" sz="1203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 que forma a pesquisa será feita? Quais materiais necessários?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7187" y="1097808"/>
            <a:ext cx="2243328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que você quer descobrir?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23412" y="1097808"/>
            <a:ext cx="2106777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 você irá pesquisar?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54317" y="1097808"/>
            <a:ext cx="2223821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Onde a pesquisa será feita?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0144" y="3871457"/>
            <a:ext cx="2496921" cy="19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8"/>
              </a:lnSpc>
            </a:pPr>
            <a:r>
              <a:rPr lang="en-US" sz="1227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Quando a pesquisa será feita?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51955" y="4306173"/>
            <a:ext cx="2877312" cy="76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21"/>
              </a:lnSpc>
            </a:pPr>
            <a:r>
              <a:rPr lang="en-US" sz="87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Forma da pesquisa:</a:t>
            </a:r>
          </a:p>
          <a:p>
            <a:pPr marL="188415" lvl="1" indent="-94208">
              <a:lnSpc>
                <a:spcPts val="1221"/>
              </a:lnSpc>
              <a:buFont typeface="Arial"/>
              <a:buChar char="•"/>
            </a:pPr>
            <a:r>
              <a:rPr lang="en-US" sz="872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Entrevistas semestruturadas.</a:t>
            </a:r>
          </a:p>
          <a:p>
            <a:pPr marL="188415" lvl="1" indent="-94208">
              <a:lnSpc>
                <a:spcPts val="1221"/>
              </a:lnSpc>
              <a:buFont typeface="Arial"/>
              <a:buChar char="•"/>
            </a:pPr>
            <a:r>
              <a:rPr lang="en-US" sz="872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Questionários.</a:t>
            </a:r>
          </a:p>
          <a:p>
            <a:pPr marL="188415" lvl="1" indent="-94208">
              <a:lnSpc>
                <a:spcPts val="1221"/>
              </a:lnSpc>
              <a:buFont typeface="Arial"/>
              <a:buChar char="•"/>
            </a:pPr>
            <a:r>
              <a:rPr lang="en-US" sz="872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Análise das dificuldades relatadas pelos usuários.</a:t>
            </a:r>
          </a:p>
          <a:p>
            <a:pPr>
              <a:lnSpc>
                <a:spcPts val="1221"/>
              </a:lnSpc>
            </a:pPr>
            <a:endParaRPr lang="en-US" sz="872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710477" y="5504879"/>
            <a:ext cx="2877312" cy="75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88"/>
              </a:lnSpc>
            </a:pPr>
            <a:r>
              <a:rPr lang="en-US" sz="84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Materiais necessários:</a:t>
            </a:r>
          </a:p>
          <a:p>
            <a:pPr marL="183314" lvl="1" indent="-91657">
              <a:lnSpc>
                <a:spcPts val="1188"/>
              </a:lnSpc>
              <a:buFont typeface="Arial"/>
              <a:buChar char="•"/>
            </a:pPr>
            <a:r>
              <a:rPr lang="en-US" sz="84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Roteiro de entrevista.</a:t>
            </a:r>
          </a:p>
          <a:p>
            <a:pPr marL="183314" lvl="1" indent="-91657">
              <a:lnSpc>
                <a:spcPts val="1188"/>
              </a:lnSpc>
              <a:buFont typeface="Arial"/>
              <a:buChar char="•"/>
            </a:pPr>
            <a:r>
              <a:rPr lang="en-US" sz="84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Questionário.</a:t>
            </a:r>
          </a:p>
          <a:p>
            <a:pPr marL="183314" lvl="1" indent="-91657">
              <a:lnSpc>
                <a:spcPts val="1188"/>
              </a:lnSpc>
              <a:buFont typeface="Arial"/>
              <a:buChar char="•"/>
            </a:pPr>
            <a:r>
              <a:rPr lang="en-US" sz="84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Computador ou celular.</a:t>
            </a:r>
          </a:p>
          <a:p>
            <a:pPr marL="183314" lvl="1" indent="-91657">
              <a:lnSpc>
                <a:spcPts val="1188"/>
              </a:lnSpc>
              <a:buFont typeface="Arial"/>
              <a:buChar char="•"/>
            </a:pPr>
            <a:r>
              <a:rPr lang="en-US" sz="84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Documentação das fontes de dados utilizadas.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FEDA3D0-AB3D-1380-179F-DB5C5620B576}"/>
              </a:ext>
            </a:extLst>
          </p:cNvPr>
          <p:cNvSpPr txBox="1"/>
          <p:nvPr/>
        </p:nvSpPr>
        <p:spPr>
          <a:xfrm>
            <a:off x="4309948" y="6832500"/>
            <a:ext cx="112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Ismailer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5EF0C-C493-4700-829C-2EEA1C67A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7200"/>
            <a:ext cx="8892916" cy="446194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99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Para Imersão Profunda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52B8B4B-A09C-42A9-A7CF-4BE92A3540E1}"/>
              </a:ext>
            </a:extLst>
          </p:cNvPr>
          <p:cNvSpPr/>
          <p:nvPr/>
        </p:nvSpPr>
        <p:spPr>
          <a:xfrm>
            <a:off x="166995" y="1665428"/>
            <a:ext cx="3108962" cy="21621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40" dirty="0"/>
              <a:t>Compreender como moradores de regiões suscetíveis a enchentes e inundações </a:t>
            </a:r>
            <a:r>
              <a:rPr lang="pt-BR" sz="1440" b="1" dirty="0"/>
              <a:t>buscam, recebem, interpretam e utilizam informações</a:t>
            </a:r>
            <a:r>
              <a:rPr lang="pt-BR" sz="1440" dirty="0"/>
              <a:t> sobre situações de risco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74158D9-6C61-4324-8029-494C50DA9DE3}"/>
              </a:ext>
            </a:extLst>
          </p:cNvPr>
          <p:cNvSpPr/>
          <p:nvPr/>
        </p:nvSpPr>
        <p:spPr>
          <a:xfrm>
            <a:off x="3421582" y="1665428"/>
            <a:ext cx="3108962" cy="21621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40" dirty="0"/>
              <a:t>Principalmente </a:t>
            </a:r>
            <a:r>
              <a:rPr lang="pt-BR" sz="1440" b="1" dirty="0"/>
              <a:t>moradores de regiões que já sofreram ou são suscetíveis a enchentes e inundações no Espírito Santo</a:t>
            </a:r>
            <a:endParaRPr lang="pt-BR" sz="144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1523C58-C9D1-4525-941C-CC8DCC3073D8}"/>
              </a:ext>
            </a:extLst>
          </p:cNvPr>
          <p:cNvSpPr/>
          <p:nvPr/>
        </p:nvSpPr>
        <p:spPr>
          <a:xfrm>
            <a:off x="6676169" y="1665428"/>
            <a:ext cx="3108962" cy="21621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40" dirty="0"/>
              <a:t>Preferencialmente em </a:t>
            </a:r>
            <a:r>
              <a:rPr lang="pt-BR" sz="1440" b="1" dirty="0"/>
              <a:t>regiões do Espírito Santo com histórico ou suscetibilidade a enchentes</a:t>
            </a:r>
            <a:endParaRPr lang="pt-BR" sz="1440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9AD39B8-2E05-4991-8792-345D8CBE083E}"/>
              </a:ext>
            </a:extLst>
          </p:cNvPr>
          <p:cNvSpPr/>
          <p:nvPr/>
        </p:nvSpPr>
        <p:spPr>
          <a:xfrm>
            <a:off x="166995" y="3954813"/>
            <a:ext cx="3108962" cy="21621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40"/>
              <a:t>Durante a </a:t>
            </a:r>
            <a:r>
              <a:rPr lang="pt-BR" sz="1440" b="1"/>
              <a:t>etapa de imersão profunda do projeto</a:t>
            </a:r>
            <a:r>
              <a:rPr lang="pt-BR" sz="1440"/>
              <a:t>, após a preparação e validação do roteiro de entrevista pelo grupo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3CCC1D1-22D3-42CB-AEC4-4699562DBA8A}"/>
              </a:ext>
            </a:extLst>
          </p:cNvPr>
          <p:cNvSpPr/>
          <p:nvPr/>
        </p:nvSpPr>
        <p:spPr>
          <a:xfrm>
            <a:off x="3421582" y="3954813"/>
            <a:ext cx="3108962" cy="21621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40" dirty="0"/>
              <a:t>Os </a:t>
            </a:r>
            <a:r>
              <a:rPr lang="pt-BR" sz="1440" b="1" dirty="0"/>
              <a:t>cinco integrantes do grupo</a:t>
            </a:r>
            <a:r>
              <a:rPr lang="pt-BR" sz="1440" dirty="0"/>
              <a:t>, responsáveis pela preparação do roteiro, realização das entrevistas, registro das respostas e posterior análise dos resultados.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28463A-F028-4CF8-B2DC-7941F4597D57}"/>
              </a:ext>
            </a:extLst>
          </p:cNvPr>
          <p:cNvSpPr/>
          <p:nvPr/>
        </p:nvSpPr>
        <p:spPr>
          <a:xfrm>
            <a:off x="6676169" y="3954813"/>
            <a:ext cx="3108962" cy="21621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40" dirty="0"/>
              <a:t>Serão realizadas </a:t>
            </a:r>
            <a:r>
              <a:rPr lang="pt-BR" sz="1440" b="1" dirty="0"/>
              <a:t>entrevistas semiestruturadas</a:t>
            </a:r>
            <a:r>
              <a:rPr lang="pt-BR" sz="1440" dirty="0"/>
              <a:t>, utilizando um roteiro com perguntas abertas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6B8EC-23EC-D441-E50F-1F72FD1C3EC8}"/>
              </a:ext>
            </a:extLst>
          </p:cNvPr>
          <p:cNvSpPr txBox="1"/>
          <p:nvPr/>
        </p:nvSpPr>
        <p:spPr>
          <a:xfrm>
            <a:off x="3786625" y="6710267"/>
            <a:ext cx="2639733" cy="2954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3152" tIns="36576" rIns="73152" bIns="3657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40" dirty="0">
                <a:ea typeface="Calibri"/>
                <a:cs typeface="Calibri"/>
              </a:rPr>
              <a:t>Phablo Escobar Ramos Correia</a:t>
            </a:r>
            <a:endParaRPr lang="en-US" sz="1440" dirty="0"/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92DC737A-72E2-7983-19CF-EBD82BEF2B00}"/>
              </a:ext>
            </a:extLst>
          </p:cNvPr>
          <p:cNvSpPr txBox="1"/>
          <p:nvPr/>
        </p:nvSpPr>
        <p:spPr>
          <a:xfrm>
            <a:off x="599812" y="1828800"/>
            <a:ext cx="2243328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você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quer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descobrir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955D4482-8DD8-7191-3CF7-9C3FFDA857C0}"/>
              </a:ext>
            </a:extLst>
          </p:cNvPr>
          <p:cNvSpPr txBox="1"/>
          <p:nvPr/>
        </p:nvSpPr>
        <p:spPr>
          <a:xfrm>
            <a:off x="3823411" y="1828800"/>
            <a:ext cx="2106777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você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irá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pesquisar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C41A169B-1406-6CCB-AD9D-FCF8EF4C6095}"/>
              </a:ext>
            </a:extLst>
          </p:cNvPr>
          <p:cNvSpPr txBox="1"/>
          <p:nvPr/>
        </p:nvSpPr>
        <p:spPr>
          <a:xfrm>
            <a:off x="7118739" y="1828800"/>
            <a:ext cx="2223821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Onde a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pesquisa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será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feita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8A9B32A6-5BBF-0596-1545-9F0E310DDF65}"/>
              </a:ext>
            </a:extLst>
          </p:cNvPr>
          <p:cNvSpPr txBox="1"/>
          <p:nvPr/>
        </p:nvSpPr>
        <p:spPr>
          <a:xfrm>
            <a:off x="473015" y="4114800"/>
            <a:ext cx="2496921" cy="19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8"/>
              </a:lnSpc>
            </a:pPr>
            <a:r>
              <a:rPr lang="en-US" sz="1227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Quando a </a:t>
            </a:r>
            <a:r>
              <a:rPr lang="en-US" sz="1227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pesquisa</a:t>
            </a:r>
            <a:r>
              <a:rPr lang="en-US" sz="1227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27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será</a:t>
            </a:r>
            <a:r>
              <a:rPr lang="en-US" sz="1227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27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feita</a:t>
            </a:r>
            <a:r>
              <a:rPr lang="en-US" sz="1227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FB686BEA-7771-93D3-A6C1-8DEF3E5BDB20}"/>
              </a:ext>
            </a:extLst>
          </p:cNvPr>
          <p:cNvSpPr txBox="1"/>
          <p:nvPr/>
        </p:nvSpPr>
        <p:spPr>
          <a:xfrm>
            <a:off x="3786625" y="4115506"/>
            <a:ext cx="2370125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são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pesquisadores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70C4DC17-06DD-5216-A602-57994B508A3C}"/>
              </a:ext>
            </a:extLst>
          </p:cNvPr>
          <p:cNvSpPr txBox="1"/>
          <p:nvPr/>
        </p:nvSpPr>
        <p:spPr>
          <a:xfrm>
            <a:off x="6758061" y="4114800"/>
            <a:ext cx="2828544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4"/>
              </a:lnSpc>
            </a:pP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forma a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pesquisa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será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feita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 Quais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materiais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necessários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5253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00924" y="-270581"/>
            <a:ext cx="1462109" cy="1468787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13312" y="450289"/>
            <a:ext cx="516295" cy="68839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034785" y="698816"/>
            <a:ext cx="549978" cy="733303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485314" y="0"/>
            <a:ext cx="2268286" cy="1579559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381075" y="6523201"/>
            <a:ext cx="1195610" cy="791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8F2A631-4741-D786-8DF3-39901FD7D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73" y="887712"/>
            <a:ext cx="8724053" cy="5539774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3264" y="6883352"/>
            <a:ext cx="651922" cy="431848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0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559" y="730487"/>
            <a:ext cx="5136417" cy="29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6"/>
              </a:lnSpc>
            </a:pPr>
            <a:r>
              <a:rPr lang="en-US" sz="1797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PREPARAÇÃO PARA IMERSÃO PROFUNDA</a:t>
            </a:r>
          </a:p>
        </p:txBody>
      </p:sp>
      <p:sp>
        <p:nvSpPr>
          <p:cNvPr id="3" name="Freeform 3"/>
          <p:cNvSpPr/>
          <p:nvPr/>
        </p:nvSpPr>
        <p:spPr>
          <a:xfrm>
            <a:off x="423559" y="1066800"/>
            <a:ext cx="2903872" cy="2428286"/>
          </a:xfrm>
          <a:custGeom>
            <a:avLst/>
            <a:gdLst/>
            <a:ahLst/>
            <a:cxnLst/>
            <a:rect l="l" t="t" r="r" b="b"/>
            <a:pathLst>
              <a:path w="5444760" h="4553036">
                <a:moveTo>
                  <a:pt x="0" y="0"/>
                </a:moveTo>
                <a:lnTo>
                  <a:pt x="5444760" y="0"/>
                </a:lnTo>
                <a:lnTo>
                  <a:pt x="5444760" y="4553036"/>
                </a:lnTo>
                <a:lnTo>
                  <a:pt x="0" y="4553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sz="960"/>
          </a:p>
        </p:txBody>
      </p:sp>
      <p:sp>
        <p:nvSpPr>
          <p:cNvPr id="4" name="TextBox 4"/>
          <p:cNvSpPr txBox="1"/>
          <p:nvPr/>
        </p:nvSpPr>
        <p:spPr>
          <a:xfrm>
            <a:off x="654570" y="1527996"/>
            <a:ext cx="2419707" cy="97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3297" lvl="1" indent="-86648">
              <a:lnSpc>
                <a:spcPts val="1124"/>
              </a:lnSpc>
              <a:buFont typeface="Arial"/>
              <a:buChar char="•"/>
            </a:pPr>
            <a:r>
              <a:rPr lang="en-US" sz="803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Queremos descobrir como as enchentes e os transbordamentos afetam a população, quais são as principais dificuldades enfrentadas durante esses eventos e como um sistema de monitoramento e alertas pode ajudar a prevenir riscos e proteger as pessoas.</a:t>
            </a:r>
          </a:p>
        </p:txBody>
      </p:sp>
      <p:sp>
        <p:nvSpPr>
          <p:cNvPr id="5" name="Freeform 5"/>
          <p:cNvSpPr/>
          <p:nvPr/>
        </p:nvSpPr>
        <p:spPr>
          <a:xfrm>
            <a:off x="3581400" y="1066800"/>
            <a:ext cx="2813425" cy="2442053"/>
          </a:xfrm>
          <a:custGeom>
            <a:avLst/>
            <a:gdLst/>
            <a:ahLst/>
            <a:cxnLst/>
            <a:rect l="l" t="t" r="r" b="b"/>
            <a:pathLst>
              <a:path w="5275171" h="4578849">
                <a:moveTo>
                  <a:pt x="0" y="0"/>
                </a:moveTo>
                <a:lnTo>
                  <a:pt x="5275172" y="0"/>
                </a:lnTo>
                <a:lnTo>
                  <a:pt x="5275172" y="4578848"/>
                </a:lnTo>
                <a:lnTo>
                  <a:pt x="0" y="4578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960"/>
          </a:p>
        </p:txBody>
      </p:sp>
      <p:sp>
        <p:nvSpPr>
          <p:cNvPr id="6" name="TextBox 6"/>
          <p:cNvSpPr txBox="1"/>
          <p:nvPr/>
        </p:nvSpPr>
        <p:spPr>
          <a:xfrm>
            <a:off x="3708972" y="1533076"/>
            <a:ext cx="2549638" cy="820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066" lvl="1" indent="-97033">
              <a:lnSpc>
                <a:spcPts val="1258"/>
              </a:lnSpc>
              <a:buFont typeface="Arial"/>
              <a:buChar char="•"/>
            </a:pP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Moradores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áreas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sujeitas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a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enchentes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comerciantes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motoristas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agentes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da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Defesa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Civil, equipes de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emergência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pessoas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que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já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passaram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por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situações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alagamento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ou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899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transbordamento</a:t>
            </a:r>
            <a:r>
              <a:rPr lang="en-US" sz="899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</a:p>
        </p:txBody>
      </p:sp>
      <p:sp>
        <p:nvSpPr>
          <p:cNvPr id="7" name="Freeform 7"/>
          <p:cNvSpPr/>
          <p:nvPr/>
        </p:nvSpPr>
        <p:spPr>
          <a:xfrm>
            <a:off x="6648825" y="1066800"/>
            <a:ext cx="2886412" cy="2413685"/>
          </a:xfrm>
          <a:custGeom>
            <a:avLst/>
            <a:gdLst/>
            <a:ahLst/>
            <a:cxnLst/>
            <a:rect l="l" t="t" r="r" b="b"/>
            <a:pathLst>
              <a:path w="5412022" h="4525660">
                <a:moveTo>
                  <a:pt x="0" y="0"/>
                </a:moveTo>
                <a:lnTo>
                  <a:pt x="5412021" y="0"/>
                </a:lnTo>
                <a:lnTo>
                  <a:pt x="5412021" y="4525660"/>
                </a:lnTo>
                <a:lnTo>
                  <a:pt x="0" y="4525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960"/>
          </a:p>
        </p:txBody>
      </p:sp>
      <p:sp>
        <p:nvSpPr>
          <p:cNvPr id="8" name="TextBox 8"/>
          <p:cNvSpPr txBox="1"/>
          <p:nvPr/>
        </p:nvSpPr>
        <p:spPr>
          <a:xfrm>
            <a:off x="6818739" y="1522628"/>
            <a:ext cx="2520021" cy="7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57"/>
              </a:lnSpc>
            </a:pPr>
            <a:r>
              <a:rPr lang="en-US" sz="826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Em bairros e regiões que apresentam histórico de enchentes, além de órgãos públicos, como Defesa Civil e Prefeitura. Também poderá ser realizada por meio de questionários e entrevistas on-line.</a:t>
            </a:r>
          </a:p>
        </p:txBody>
      </p:sp>
      <p:sp>
        <p:nvSpPr>
          <p:cNvPr id="9" name="Freeform 9"/>
          <p:cNvSpPr/>
          <p:nvPr/>
        </p:nvSpPr>
        <p:spPr>
          <a:xfrm>
            <a:off x="471299" y="3509247"/>
            <a:ext cx="2856133" cy="2713051"/>
          </a:xfrm>
          <a:custGeom>
            <a:avLst/>
            <a:gdLst/>
            <a:ahLst/>
            <a:cxnLst/>
            <a:rect l="l" t="t" r="r" b="b"/>
            <a:pathLst>
              <a:path w="5355249" h="5086971">
                <a:moveTo>
                  <a:pt x="0" y="0"/>
                </a:moveTo>
                <a:lnTo>
                  <a:pt x="5355249" y="0"/>
                </a:lnTo>
                <a:lnTo>
                  <a:pt x="5355249" y="5086971"/>
                </a:lnTo>
                <a:lnTo>
                  <a:pt x="0" y="50869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960"/>
          </a:p>
        </p:txBody>
      </p:sp>
      <p:sp>
        <p:nvSpPr>
          <p:cNvPr id="10" name="TextBox 10"/>
          <p:cNvSpPr txBox="1"/>
          <p:nvPr/>
        </p:nvSpPr>
        <p:spPr>
          <a:xfrm>
            <a:off x="554590" y="4025458"/>
            <a:ext cx="2576944" cy="115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0713" lvl="1" indent="-100357">
              <a:lnSpc>
                <a:spcPts val="1301"/>
              </a:lnSpc>
              <a:buFont typeface="Arial"/>
              <a:buChar char="•"/>
            </a:pPr>
            <a:r>
              <a:rPr lang="en-US" sz="93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pesquisa será realizada durante a etapa inicial do projeto, antes do desenvolvimento do sistema. As entrevistas e questionários podem ser feitos durante uma ou duas semanas, buscando obter informações de diferentes pessoas e situações.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81400" y="3508853"/>
            <a:ext cx="2813425" cy="2774037"/>
          </a:xfrm>
          <a:custGeom>
            <a:avLst/>
            <a:gdLst/>
            <a:ahLst/>
            <a:cxnLst/>
            <a:rect l="l" t="t" r="r" b="b"/>
            <a:pathLst>
              <a:path w="5275171" h="5201319">
                <a:moveTo>
                  <a:pt x="0" y="0"/>
                </a:moveTo>
                <a:lnTo>
                  <a:pt x="5275172" y="0"/>
                </a:lnTo>
                <a:lnTo>
                  <a:pt x="5275172" y="5201319"/>
                </a:lnTo>
                <a:lnTo>
                  <a:pt x="0" y="52013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 sz="960"/>
          </a:p>
        </p:txBody>
      </p:sp>
      <p:sp>
        <p:nvSpPr>
          <p:cNvPr id="12" name="TextBox 12"/>
          <p:cNvSpPr txBox="1"/>
          <p:nvPr/>
        </p:nvSpPr>
        <p:spPr>
          <a:xfrm>
            <a:off x="3933686" y="3708171"/>
            <a:ext cx="2100210" cy="17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3"/>
              </a:lnSpc>
            </a:pPr>
            <a:r>
              <a:rPr lang="en-US" sz="1066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 são os pesquisadores?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08972" y="4045446"/>
            <a:ext cx="2549638" cy="988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3108" lvl="1" indent="-101554">
              <a:lnSpc>
                <a:spcPts val="1317"/>
              </a:lnSpc>
              <a:buFont typeface="Arial"/>
              <a:buChar char="•"/>
            </a:pPr>
            <a:r>
              <a:rPr lang="en-US" sz="94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Os pesquisadores serão os integrantes da equipe responsável pelo projeto, que irão realizar entrevistas, aplicar questionários, observar os problemas encontrados e analisar as informações coletadas.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48825" y="3554645"/>
            <a:ext cx="2886412" cy="2741813"/>
          </a:xfrm>
          <a:custGeom>
            <a:avLst/>
            <a:gdLst/>
            <a:ahLst/>
            <a:cxnLst/>
            <a:rect l="l" t="t" r="r" b="b"/>
            <a:pathLst>
              <a:path w="5412022" h="5140899">
                <a:moveTo>
                  <a:pt x="0" y="0"/>
                </a:moveTo>
                <a:lnTo>
                  <a:pt x="5412021" y="0"/>
                </a:lnTo>
                <a:lnTo>
                  <a:pt x="5412021" y="5140900"/>
                </a:lnTo>
                <a:lnTo>
                  <a:pt x="0" y="5140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 sz="960"/>
          </a:p>
        </p:txBody>
      </p:sp>
      <p:sp>
        <p:nvSpPr>
          <p:cNvPr id="15" name="TextBox 15"/>
          <p:cNvSpPr txBox="1"/>
          <p:nvPr/>
        </p:nvSpPr>
        <p:spPr>
          <a:xfrm>
            <a:off x="6844367" y="3637987"/>
            <a:ext cx="2477309" cy="322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4"/>
              </a:lnSpc>
            </a:pPr>
            <a:r>
              <a:rPr lang="en-US" sz="1054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 que forma a pesquisa será feita? Quais materiais necessários?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4103" y="1272796"/>
            <a:ext cx="2009143" cy="175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9"/>
              </a:lnSpc>
            </a:pPr>
            <a:r>
              <a:rPr lang="en-US" sz="1078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que você quer descobrir?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54686" y="1247842"/>
            <a:ext cx="1866853" cy="17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3"/>
              </a:lnSpc>
            </a:pPr>
            <a:r>
              <a:rPr lang="en-US" sz="1066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 você irá pesquisar?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83555" y="1240482"/>
            <a:ext cx="1947677" cy="175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5"/>
              </a:lnSpc>
            </a:pPr>
            <a:r>
              <a:rPr lang="en-US" sz="1054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Onde a pesquisa será feita?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2975" y="3713248"/>
            <a:ext cx="2236263" cy="17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</a:pPr>
            <a:r>
              <a:rPr lang="en-US" sz="1099" b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Quando a pesquisa será feita?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19274" y="4091670"/>
            <a:ext cx="2345514" cy="1526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0234" lvl="1" indent="-115117">
              <a:lnSpc>
                <a:spcPts val="1493"/>
              </a:lnSpc>
              <a:buFont typeface="Arial"/>
              <a:buChar char="•"/>
            </a:pPr>
            <a:r>
              <a:rPr lang="en-US" sz="106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pesquisa será feita por meio de entrevistas, questionários on-line e presenciais e observação das áreas afetadas. Serão necessários celular ou computador, formulário digital, acesso à internet, mapas das regiões de risco e registros de ocorrências de enchentes.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39120" y="814474"/>
            <a:ext cx="2330116" cy="175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93"/>
              </a:lnSpc>
              <a:spcBef>
                <a:spcPct val="0"/>
              </a:spcBef>
            </a:pPr>
            <a:r>
              <a:rPr lang="en-US" sz="106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Gabriel Gonçalves Rodrigues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793</Words>
  <Application>Microsoft Office PowerPoint</Application>
  <PresentationFormat>Personalizar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6" baseType="lpstr">
      <vt:lpstr>Poppins Bold</vt:lpstr>
      <vt:lpstr>Montserrat Bold</vt:lpstr>
      <vt:lpstr>Montserrat Light</vt:lpstr>
      <vt:lpstr>HK Grotesk Bold</vt:lpstr>
      <vt:lpstr>Arial</vt:lpstr>
      <vt:lpstr>Montserrat</vt:lpstr>
      <vt:lpstr>Poppins</vt:lpstr>
      <vt:lpstr>Poppins Medium</vt:lpstr>
      <vt:lpstr>Calibri</vt:lpstr>
      <vt:lpstr>Open Sans Bold</vt:lpstr>
      <vt:lpstr>Office Theme</vt:lpstr>
      <vt:lpstr>Apresentação do PowerPoint</vt:lpstr>
      <vt:lpstr>Apresentação do PowerPoint</vt:lpstr>
      <vt:lpstr>Preparação Para Imersão Profunda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Preparação para Imersão (Loys Lane)</dc:title>
  <dc:creator>Phablo</dc:creator>
  <cp:lastModifiedBy>Phablo Escobar Ramos Correia</cp:lastModifiedBy>
  <cp:revision>5</cp:revision>
  <dcterms:created xsi:type="dcterms:W3CDTF">2006-08-16T00:00:00Z</dcterms:created>
  <dcterms:modified xsi:type="dcterms:W3CDTF">2026-08-30T23:26:28Z</dcterms:modified>
  <dc:identifier>DAHTr3GXuQo</dc:identifier>
</cp:coreProperties>
</file>